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Arimo Bold" charset="1" panose="020B0704020202020204"/>
      <p:regular r:id="rId18"/>
    </p:embeddedFont>
    <p:embeddedFont>
      <p:font typeface="Open Sans Bold" charset="1" panose="000000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18866" y="-3471219"/>
            <a:ext cx="8095132" cy="8095132"/>
          </a:xfrm>
          <a:custGeom>
            <a:avLst/>
            <a:gdLst/>
            <a:ahLst/>
            <a:cxnLst/>
            <a:rect r="r" b="b" t="t" l="l"/>
            <a:pathLst>
              <a:path h="8095132" w="8095132">
                <a:moveTo>
                  <a:pt x="0" y="0"/>
                </a:moveTo>
                <a:lnTo>
                  <a:pt x="8095132" y="0"/>
                </a:lnTo>
                <a:lnTo>
                  <a:pt x="8095132" y="8095132"/>
                </a:lnTo>
                <a:lnTo>
                  <a:pt x="0" y="8095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468215" y="375946"/>
            <a:ext cx="989717" cy="989717"/>
          </a:xfrm>
          <a:custGeom>
            <a:avLst/>
            <a:gdLst/>
            <a:ahLst/>
            <a:cxnLst/>
            <a:rect r="r" b="b" t="t" l="l"/>
            <a:pathLst>
              <a:path h="989717" w="989717">
                <a:moveTo>
                  <a:pt x="0" y="0"/>
                </a:moveTo>
                <a:lnTo>
                  <a:pt x="989717" y="0"/>
                </a:lnTo>
                <a:lnTo>
                  <a:pt x="989717" y="989717"/>
                </a:lnTo>
                <a:lnTo>
                  <a:pt x="0" y="989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55558" y="4953287"/>
            <a:ext cx="12743941" cy="330159"/>
          </a:xfrm>
          <a:custGeom>
            <a:avLst/>
            <a:gdLst/>
            <a:ahLst/>
            <a:cxnLst/>
            <a:rect r="r" b="b" t="t" l="l"/>
            <a:pathLst>
              <a:path h="330159" w="12743941">
                <a:moveTo>
                  <a:pt x="0" y="0"/>
                </a:moveTo>
                <a:lnTo>
                  <a:pt x="12743941" y="0"/>
                </a:lnTo>
                <a:lnTo>
                  <a:pt x="12743941" y="330160"/>
                </a:lnTo>
                <a:lnTo>
                  <a:pt x="0" y="3301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38026" y="3005533"/>
            <a:ext cx="13675424" cy="228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83"/>
              </a:lnSpc>
            </a:pPr>
            <a:r>
              <a:rPr lang="en-US" sz="12059" b="true">
                <a:solidFill>
                  <a:srgbClr val="EA1E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</a:t>
            </a:r>
            <a:r>
              <a:rPr lang="en-US" sz="1205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12059" b="true">
                <a:solidFill>
                  <a:srgbClr val="04A0E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ANALYSIS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139722" y="5959216"/>
            <a:ext cx="8095132" cy="8095132"/>
          </a:xfrm>
          <a:custGeom>
            <a:avLst/>
            <a:gdLst/>
            <a:ahLst/>
            <a:cxnLst/>
            <a:rect r="r" b="b" t="t" l="l"/>
            <a:pathLst>
              <a:path h="8095132" w="8095132">
                <a:moveTo>
                  <a:pt x="0" y="0"/>
                </a:moveTo>
                <a:lnTo>
                  <a:pt x="8095132" y="0"/>
                </a:lnTo>
                <a:lnTo>
                  <a:pt x="8095132" y="8095133"/>
                </a:lnTo>
                <a:lnTo>
                  <a:pt x="0" y="8095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9269" y="0"/>
            <a:ext cx="18690022" cy="10287000"/>
          </a:xfrm>
          <a:custGeom>
            <a:avLst/>
            <a:gdLst/>
            <a:ahLst/>
            <a:cxnLst/>
            <a:rect r="r" b="b" t="t" l="l"/>
            <a:pathLst>
              <a:path h="10287000" w="18690022">
                <a:moveTo>
                  <a:pt x="0" y="0"/>
                </a:moveTo>
                <a:lnTo>
                  <a:pt x="18690022" y="0"/>
                </a:lnTo>
                <a:lnTo>
                  <a:pt x="186900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"/>
            </a:blip>
            <a:stretch>
              <a:fillRect l="0" t="-1099" r="0" b="-117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75742" y="7982826"/>
            <a:ext cx="4590864" cy="507206"/>
            <a:chOff x="0" y="0"/>
            <a:chExt cx="6121152" cy="67627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30816" y="-76200"/>
              <a:ext cx="6090336" cy="752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SUMIT VISHWAKARMA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283"/>
              <a:ext cx="325686" cy="325686"/>
            </a:xfrm>
            <a:custGeom>
              <a:avLst/>
              <a:gdLst/>
              <a:ahLst/>
              <a:cxnLst/>
              <a:rect r="r" b="b" t="t" l="l"/>
              <a:pathLst>
                <a:path h="325686" w="325686">
                  <a:moveTo>
                    <a:pt x="0" y="0"/>
                  </a:moveTo>
                  <a:lnTo>
                    <a:pt x="325686" y="0"/>
                  </a:lnTo>
                  <a:lnTo>
                    <a:pt x="325686" y="325686"/>
                  </a:lnTo>
                  <a:lnTo>
                    <a:pt x="0" y="325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93331" y="7982826"/>
            <a:ext cx="2851876" cy="523875"/>
            <a:chOff x="0" y="0"/>
            <a:chExt cx="3802502" cy="6985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351086" y="-76200"/>
              <a:ext cx="3451416" cy="77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AMAN SINGH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395"/>
              <a:ext cx="325685" cy="325685"/>
            </a:xfrm>
            <a:custGeom>
              <a:avLst/>
              <a:gdLst/>
              <a:ahLst/>
              <a:cxnLst/>
              <a:rect r="r" b="b" t="t" l="l"/>
              <a:pathLst>
                <a:path h="325685" w="325685">
                  <a:moveTo>
                    <a:pt x="0" y="0"/>
                  </a:moveTo>
                  <a:lnTo>
                    <a:pt x="325685" y="0"/>
                  </a:lnTo>
                  <a:lnTo>
                    <a:pt x="325685" y="325685"/>
                  </a:lnTo>
                  <a:lnTo>
                    <a:pt x="0" y="325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38026" y="8016164"/>
            <a:ext cx="3324770" cy="457200"/>
            <a:chOff x="0" y="0"/>
            <a:chExt cx="4433027" cy="6096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30816" y="-76200"/>
              <a:ext cx="4402210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SUBHASH KOLI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283"/>
              <a:ext cx="325686" cy="325686"/>
            </a:xfrm>
            <a:custGeom>
              <a:avLst/>
              <a:gdLst/>
              <a:ahLst/>
              <a:cxnLst/>
              <a:rect r="r" b="b" t="t" l="l"/>
              <a:pathLst>
                <a:path h="325686" w="325686">
                  <a:moveTo>
                    <a:pt x="0" y="0"/>
                  </a:moveTo>
                  <a:lnTo>
                    <a:pt x="325686" y="0"/>
                  </a:lnTo>
                  <a:lnTo>
                    <a:pt x="325686" y="325686"/>
                  </a:lnTo>
                  <a:lnTo>
                    <a:pt x="0" y="325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528140" y="1365663"/>
            <a:ext cx="3231719" cy="848326"/>
          </a:xfrm>
          <a:custGeom>
            <a:avLst/>
            <a:gdLst/>
            <a:ahLst/>
            <a:cxnLst/>
            <a:rect r="r" b="b" t="t" l="l"/>
            <a:pathLst>
              <a:path h="848326" w="3231719">
                <a:moveTo>
                  <a:pt x="0" y="0"/>
                </a:moveTo>
                <a:lnTo>
                  <a:pt x="3231720" y="0"/>
                </a:lnTo>
                <a:lnTo>
                  <a:pt x="3231720" y="848326"/>
                </a:lnTo>
                <a:lnTo>
                  <a:pt x="0" y="848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6586112">
            <a:off x="-743761" y="99280"/>
            <a:ext cx="3086100" cy="1543050"/>
            <a:chOff x="0" y="0"/>
            <a:chExt cx="660400" cy="330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199499" y="7200900"/>
            <a:ext cx="3086100" cy="3086100"/>
            <a:chOff x="0" y="0"/>
            <a:chExt cx="558800" cy="55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463625" y="6036670"/>
            <a:ext cx="872780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true">
                <a:solidFill>
                  <a:srgbClr val="21336E"/>
                </a:solidFill>
                <a:latin typeface="Arimo Bold"/>
                <a:ea typeface="Arimo Bold"/>
                <a:cs typeface="Arimo Bold"/>
                <a:sym typeface="Arimo Bold"/>
              </a:rPr>
              <a:t>An In-Depth Exploration of Ridership Trends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26320" y="5302497"/>
            <a:ext cx="3202414" cy="57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3"/>
              </a:lnSpc>
              <a:spcBef>
                <a:spcPct val="0"/>
              </a:spcBef>
            </a:pPr>
            <a:r>
              <a:rPr lang="en-US" b="true" sz="3195">
                <a:solidFill>
                  <a:srgbClr val="19488D"/>
                </a:solidFill>
                <a:latin typeface="Arimo Bold"/>
                <a:ea typeface="Arimo Bold"/>
                <a:cs typeface="Arimo Bold"/>
                <a:sym typeface="Arimo Bold"/>
              </a:rPr>
              <a:t>Citi Bike 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5440"/>
            <a:ext cx="1329120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b="true" sz="6000" u="sng">
                <a:solidFill>
                  <a:srgbClr val="26262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About Company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2329" y="4462701"/>
            <a:ext cx="7251973" cy="349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42577" indent="-335644" lvl="3">
              <a:lnSpc>
                <a:spcPts val="4601"/>
              </a:lnSpc>
              <a:buFont typeface="Arial"/>
              <a:buChar char="￭"/>
            </a:pPr>
            <a:r>
              <a:rPr lang="en-US" b="true" sz="328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New York City’s largest bike-sharing system.</a:t>
            </a:r>
          </a:p>
          <a:p>
            <a:pPr algn="l" marL="1342577" indent="-335644" lvl="3">
              <a:lnSpc>
                <a:spcPts val="4601"/>
              </a:lnSpc>
            </a:pPr>
          </a:p>
          <a:p>
            <a:pPr algn="l" marL="1342577" indent="-335644" lvl="3">
              <a:lnSpc>
                <a:spcPts val="4601"/>
              </a:lnSpc>
              <a:buFont typeface="Arial"/>
              <a:buChar char="￭"/>
            </a:pPr>
            <a:r>
              <a:rPr lang="en-US" b="true" sz="328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Offers accessibility to casual users &amp; subscribers.</a:t>
            </a:r>
          </a:p>
          <a:p>
            <a:pPr algn="l" marL="1342577" indent="-335644" lvl="3">
              <a:lnSpc>
                <a:spcPts val="460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68587" y="5355047"/>
            <a:ext cx="7806507" cy="7806507"/>
          </a:xfrm>
          <a:custGeom>
            <a:avLst/>
            <a:gdLst/>
            <a:ahLst/>
            <a:cxnLst/>
            <a:rect r="r" b="b" t="t" l="l"/>
            <a:pathLst>
              <a:path h="7806507" w="7806507">
                <a:moveTo>
                  <a:pt x="0" y="0"/>
                </a:moveTo>
                <a:lnTo>
                  <a:pt x="7806507" y="0"/>
                </a:lnTo>
                <a:lnTo>
                  <a:pt x="7806507" y="7806507"/>
                </a:lnTo>
                <a:lnTo>
                  <a:pt x="0" y="780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8183" y="4064527"/>
            <a:ext cx="8651167" cy="450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07459" indent="-326865" lvl="3">
              <a:lnSpc>
                <a:spcPts val="4481"/>
              </a:lnSpc>
              <a:buFont typeface="Arial"/>
              <a:buChar char="￭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Understand who uses Citi Bike (Subscribers vs. One-time Users).</a:t>
            </a:r>
          </a:p>
          <a:p>
            <a:pPr algn="l" marL="1307459" indent="-326865" lvl="3">
              <a:lnSpc>
                <a:spcPts val="4481"/>
              </a:lnSpc>
            </a:pPr>
          </a:p>
          <a:p>
            <a:pPr algn="l" marL="1307459" indent="-326865" lvl="3">
              <a:lnSpc>
                <a:spcPts val="4481"/>
              </a:lnSpc>
              <a:buFont typeface="Arial"/>
              <a:buChar char="￭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Examine how weather &amp; seasons impact ridership.</a:t>
            </a:r>
          </a:p>
          <a:p>
            <a:pPr algn="l" marL="1307459" indent="-326865" lvl="3">
              <a:lnSpc>
                <a:spcPts val="4481"/>
              </a:lnSpc>
            </a:pPr>
          </a:p>
          <a:p>
            <a:pPr algn="l" marL="1307459" indent="-326865" lvl="3">
              <a:lnSpc>
                <a:spcPts val="4481"/>
              </a:lnSpc>
              <a:buFont typeface="Arial"/>
              <a:buChar char="￭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Identify key insights to improve Citi Bike operations &amp; user experience.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75700" y="3285023"/>
            <a:ext cx="6203451" cy="688247"/>
          </a:xfrm>
          <a:custGeom>
            <a:avLst/>
            <a:gdLst/>
            <a:ahLst/>
            <a:cxnLst/>
            <a:rect r="r" b="b" t="t" l="l"/>
            <a:pathLst>
              <a:path h="688247" w="6203451">
                <a:moveTo>
                  <a:pt x="0" y="0"/>
                </a:moveTo>
                <a:lnTo>
                  <a:pt x="6203451" y="0"/>
                </a:lnTo>
                <a:lnTo>
                  <a:pt x="6203451" y="688247"/>
                </a:lnTo>
                <a:lnTo>
                  <a:pt x="0" y="688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5699" y="3414284"/>
            <a:ext cx="4677073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0101" indent="-266700" lvl="2">
              <a:lnSpc>
                <a:spcPts val="3955"/>
              </a:lnSpc>
              <a:buFont typeface="Arial"/>
              <a:buChar char="⚬"/>
            </a:pPr>
            <a:r>
              <a:rPr lang="en-US" b="true" sz="3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What is Citi Bike?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58225"/>
            <a:ext cx="81153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03/10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24495" y="2151498"/>
            <a:ext cx="989717" cy="989717"/>
          </a:xfrm>
          <a:custGeom>
            <a:avLst/>
            <a:gdLst/>
            <a:ahLst/>
            <a:cxnLst/>
            <a:rect r="r" b="b" t="t" l="l"/>
            <a:pathLst>
              <a:path h="989717" w="989717">
                <a:moveTo>
                  <a:pt x="0" y="0"/>
                </a:moveTo>
                <a:lnTo>
                  <a:pt x="989717" y="0"/>
                </a:lnTo>
                <a:lnTo>
                  <a:pt x="989717" y="989717"/>
                </a:lnTo>
                <a:lnTo>
                  <a:pt x="0" y="98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046075"/>
            <a:ext cx="471896" cy="471896"/>
          </a:xfrm>
          <a:custGeom>
            <a:avLst/>
            <a:gdLst/>
            <a:ahLst/>
            <a:cxnLst/>
            <a:rect r="r" b="b" t="t" l="l"/>
            <a:pathLst>
              <a:path h="471896" w="471896">
                <a:moveTo>
                  <a:pt x="0" y="0"/>
                </a:moveTo>
                <a:lnTo>
                  <a:pt x="471896" y="0"/>
                </a:lnTo>
                <a:lnTo>
                  <a:pt x="471896" y="471896"/>
                </a:lnTo>
                <a:lnTo>
                  <a:pt x="0" y="4718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95493" y="3267901"/>
            <a:ext cx="6664451" cy="672797"/>
          </a:xfrm>
          <a:custGeom>
            <a:avLst/>
            <a:gdLst/>
            <a:ahLst/>
            <a:cxnLst/>
            <a:rect r="r" b="b" t="t" l="l"/>
            <a:pathLst>
              <a:path h="672797" w="6664451">
                <a:moveTo>
                  <a:pt x="0" y="0"/>
                </a:moveTo>
                <a:lnTo>
                  <a:pt x="6664451" y="0"/>
                </a:lnTo>
                <a:lnTo>
                  <a:pt x="6664451" y="672797"/>
                </a:lnTo>
                <a:lnTo>
                  <a:pt x="0" y="6727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17550" y="3428571"/>
            <a:ext cx="7058435" cy="51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0101" indent="-266700" lvl="2">
              <a:lnSpc>
                <a:spcPts val="3955"/>
              </a:lnSpc>
              <a:buFont typeface="Arial"/>
              <a:buChar char="⚬"/>
            </a:pPr>
            <a:r>
              <a:rPr lang="en-US" b="true" sz="35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Objective of this Analysis: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92831" y="-27692"/>
            <a:ext cx="9144335" cy="12433231"/>
          </a:xfrm>
          <a:custGeom>
            <a:avLst/>
            <a:gdLst/>
            <a:ahLst/>
            <a:cxnLst/>
            <a:rect r="r" b="b" t="t" l="l"/>
            <a:pathLst>
              <a:path h="12433231" w="9144335">
                <a:moveTo>
                  <a:pt x="0" y="0"/>
                </a:moveTo>
                <a:lnTo>
                  <a:pt x="9144335" y="0"/>
                </a:lnTo>
                <a:lnTo>
                  <a:pt x="9144335" y="12433231"/>
                </a:lnTo>
                <a:lnTo>
                  <a:pt x="0" y="12433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99408" y="309353"/>
            <a:ext cx="5672880" cy="4834147"/>
            <a:chOff x="0" y="0"/>
            <a:chExt cx="7563841" cy="64455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63866" cy="6445504"/>
            </a:xfrm>
            <a:custGeom>
              <a:avLst/>
              <a:gdLst/>
              <a:ahLst/>
              <a:cxnLst/>
              <a:rect r="r" b="b" t="t" l="l"/>
              <a:pathLst>
                <a:path h="6445504" w="7563866">
                  <a:moveTo>
                    <a:pt x="0" y="0"/>
                  </a:moveTo>
                  <a:lnTo>
                    <a:pt x="7563866" y="0"/>
                  </a:lnTo>
                  <a:lnTo>
                    <a:pt x="7563866" y="6445504"/>
                  </a:lnTo>
                  <a:lnTo>
                    <a:pt x="0" y="644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799408" y="5363870"/>
            <a:ext cx="5687177" cy="4712237"/>
            <a:chOff x="0" y="0"/>
            <a:chExt cx="7582903" cy="62829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82916" cy="6282944"/>
            </a:xfrm>
            <a:custGeom>
              <a:avLst/>
              <a:gdLst/>
              <a:ahLst/>
              <a:cxnLst/>
              <a:rect r="r" b="b" t="t" l="l"/>
              <a:pathLst>
                <a:path h="6282944" w="7582916">
                  <a:moveTo>
                    <a:pt x="0" y="0"/>
                  </a:moveTo>
                  <a:lnTo>
                    <a:pt x="7582916" y="0"/>
                  </a:lnTo>
                  <a:lnTo>
                    <a:pt x="7582916" y="6282944"/>
                  </a:lnTo>
                  <a:lnTo>
                    <a:pt x="0" y="6282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9" r="0" b="-7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14198" y="579939"/>
            <a:ext cx="9682629" cy="65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4934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Subscribers vs. Casual Users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075" y="2294372"/>
            <a:ext cx="8456809" cy="236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980" indent="-207660" lvl="2">
              <a:lnSpc>
                <a:spcPts val="3815"/>
              </a:lnSpc>
              <a:buFont typeface="Arial"/>
              <a:buChar char="⚬"/>
            </a:pPr>
            <a:r>
              <a:rPr lang="en-US" b="true" sz="272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Overview: </a:t>
            </a:r>
          </a:p>
          <a:p>
            <a:pPr algn="just" marL="1113330" indent="-278333" lvl="3">
              <a:lnSpc>
                <a:spcPts val="3815"/>
              </a:lnSpc>
              <a:buFont typeface="Arial"/>
              <a:buChar char="￭"/>
            </a:pPr>
            <a:r>
              <a:rPr lang="en-US" b="true" sz="2724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98.14%</a:t>
            </a:r>
            <a:r>
              <a:rPr lang="en-US" b="true" sz="272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of trips are made by Subscribers.</a:t>
            </a:r>
          </a:p>
          <a:p>
            <a:pPr algn="just" marL="1113330" indent="-278333" lvl="3">
              <a:lnSpc>
                <a:spcPts val="3815"/>
              </a:lnSpc>
              <a:buFont typeface="Arial"/>
              <a:buChar char="￭"/>
            </a:pPr>
            <a:r>
              <a:rPr lang="en-US" b="true" sz="272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Only </a:t>
            </a:r>
            <a:r>
              <a:rPr lang="en-US" b="true" sz="2724">
                <a:solidFill>
                  <a:srgbClr val="E322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1.86%</a:t>
            </a:r>
            <a:r>
              <a:rPr lang="en-US" b="true" sz="272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of trips are from One-time Users.</a:t>
            </a:r>
          </a:p>
          <a:p>
            <a:pPr algn="just" marL="1113330" indent="-278333" lvl="3">
              <a:lnSpc>
                <a:spcPts val="381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14198" y="5769264"/>
            <a:ext cx="10295887" cy="195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098" indent="-205699" lvl="2">
              <a:lnSpc>
                <a:spcPts val="3779"/>
              </a:lnSpc>
              <a:buFont typeface="Arial"/>
              <a:buChar char="⚬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 </a:t>
            </a:r>
          </a:p>
          <a:p>
            <a:pPr algn="l" marL="1102872" indent="-275718" lvl="3">
              <a:lnSpc>
                <a:spcPts val="3779"/>
              </a:lnSpc>
              <a:buFont typeface="Arial"/>
              <a:buChar char="￭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Introduce promotions for casual users to increase adoption.</a:t>
            </a:r>
          </a:p>
          <a:p>
            <a:pPr algn="l" marL="1102872" indent="-275718" lvl="3">
              <a:lnSpc>
                <a:spcPts val="3779"/>
              </a:lnSpc>
              <a:buFont typeface="Arial"/>
              <a:buChar char="￭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Offer subscription trials to convert one-time users.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93379" y="543822"/>
            <a:ext cx="2595943" cy="712747"/>
          </a:xfrm>
          <a:custGeom>
            <a:avLst/>
            <a:gdLst/>
            <a:ahLst/>
            <a:cxnLst/>
            <a:rect r="r" b="b" t="t" l="l"/>
            <a:pathLst>
              <a:path h="712747" w="2595943">
                <a:moveTo>
                  <a:pt x="0" y="0"/>
                </a:moveTo>
                <a:lnTo>
                  <a:pt x="2595943" y="0"/>
                </a:lnTo>
                <a:lnTo>
                  <a:pt x="2595943" y="712747"/>
                </a:lnTo>
                <a:lnTo>
                  <a:pt x="0" y="712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5640" y="685810"/>
            <a:ext cx="11939788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1"/>
              </a:lnSpc>
            </a:pPr>
            <a:r>
              <a:rPr lang="en-US" sz="5764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Weekday vs. Weekend Trends</a:t>
            </a:r>
          </a:p>
          <a:p>
            <a:pPr algn="l">
              <a:lnSpc>
                <a:spcPts val="634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3829" y="1939976"/>
            <a:ext cx="9807759" cy="687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2318" indent="-184106" lvl="2">
              <a:lnSpc>
                <a:spcPts val="3381"/>
              </a:lnSpc>
              <a:buFont typeface="Arial"/>
              <a:buChar char="⚬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Findings: </a:t>
            </a:r>
          </a:p>
          <a:p>
            <a:pPr algn="l" marL="987031" indent="-246758" lvl="3">
              <a:lnSpc>
                <a:spcPts val="3381"/>
              </a:lnSpc>
              <a:buFont typeface="Arial"/>
              <a:buChar char="￭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Subscribers: </a:t>
            </a:r>
            <a:r>
              <a:rPr lang="en-US" b="true" sz="2415">
                <a:solidFill>
                  <a:srgbClr val="70AD4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16,385 trips</a:t>
            </a: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(Weekday), 3,634 trips (Weekend).</a:t>
            </a:r>
          </a:p>
          <a:p>
            <a:pPr algn="l" marL="987031" indent="-246758" lvl="3">
              <a:lnSpc>
                <a:spcPts val="3381"/>
              </a:lnSpc>
              <a:buFont typeface="Arial"/>
              <a:buChar char="￭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One-time users: </a:t>
            </a:r>
            <a:r>
              <a:rPr lang="en-US" b="true" sz="2415">
                <a:solidFill>
                  <a:srgbClr val="E322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198 trips</a:t>
            </a: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(Weekday), 182 trips (Weekend).</a:t>
            </a:r>
          </a:p>
          <a:p>
            <a:pPr algn="l" marL="987031" indent="-246758" lvl="3">
              <a:lnSpc>
                <a:spcPts val="3381"/>
              </a:lnSpc>
            </a:pPr>
          </a:p>
          <a:p>
            <a:pPr algn="l" marL="552318" indent="-184106" lvl="2">
              <a:lnSpc>
                <a:spcPts val="3381"/>
              </a:lnSpc>
              <a:buFont typeface="Arial"/>
              <a:buChar char="⚬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Insights: </a:t>
            </a:r>
          </a:p>
          <a:p>
            <a:pPr algn="l" marL="987031" indent="-246758" lvl="3">
              <a:lnSpc>
                <a:spcPts val="3381"/>
              </a:lnSpc>
              <a:buFont typeface="Arial"/>
              <a:buChar char="￭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Subscribers use Citi Bike for commuting, with </a:t>
            </a:r>
            <a:r>
              <a:rPr lang="en-US" b="true" sz="2415">
                <a:solidFill>
                  <a:srgbClr val="70AD4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peak usage on weekdays.</a:t>
            </a:r>
          </a:p>
          <a:p>
            <a:pPr algn="l" marL="987031" indent="-246758" lvl="3">
              <a:lnSpc>
                <a:spcPts val="3381"/>
              </a:lnSpc>
              <a:buFont typeface="Arial"/>
              <a:buChar char="￭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One-time users have a balanced weekday-weekend split.</a:t>
            </a:r>
          </a:p>
          <a:p>
            <a:pPr algn="l" marL="987031" indent="-246758" lvl="3">
              <a:lnSpc>
                <a:spcPts val="3381"/>
              </a:lnSpc>
            </a:pPr>
          </a:p>
          <a:p>
            <a:pPr algn="l" marL="552318" indent="-184106" lvl="2">
              <a:lnSpc>
                <a:spcPts val="3381"/>
              </a:lnSpc>
              <a:buFont typeface="Arial"/>
              <a:buChar char="⚬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Actionable Steps: </a:t>
            </a:r>
          </a:p>
          <a:p>
            <a:pPr algn="l" marL="987031" indent="-246758" lvl="3">
              <a:lnSpc>
                <a:spcPts val="3381"/>
              </a:lnSpc>
              <a:buFont typeface="Arial"/>
              <a:buChar char="￭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Improve weekday availability of bikes at major transit hubs.</a:t>
            </a:r>
          </a:p>
          <a:p>
            <a:pPr algn="l" marL="987031" indent="-246758" lvl="3">
              <a:lnSpc>
                <a:spcPts val="3381"/>
              </a:lnSpc>
              <a:buFont typeface="Arial"/>
              <a:buChar char="￭"/>
            </a:pPr>
            <a:r>
              <a:rPr lang="en-US" b="true" sz="24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Launch weekend tourist packages to attract more one-time users.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148440" y="2016176"/>
            <a:ext cx="9712719" cy="6133814"/>
            <a:chOff x="0" y="0"/>
            <a:chExt cx="12950292" cy="8178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50317" cy="8178419"/>
            </a:xfrm>
            <a:custGeom>
              <a:avLst/>
              <a:gdLst/>
              <a:ahLst/>
              <a:cxnLst/>
              <a:rect r="r" b="b" t="t" l="l"/>
              <a:pathLst>
                <a:path h="8178419" w="12950317">
                  <a:moveTo>
                    <a:pt x="0" y="0"/>
                  </a:moveTo>
                  <a:lnTo>
                    <a:pt x="12950317" y="0"/>
                  </a:lnTo>
                  <a:lnTo>
                    <a:pt x="12950317" y="8178419"/>
                  </a:lnTo>
                  <a:lnTo>
                    <a:pt x="0" y="8178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32" t="0" r="-343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178244" y="7252345"/>
            <a:ext cx="1415577" cy="1028262"/>
            <a:chOff x="0" y="0"/>
            <a:chExt cx="1887436" cy="1371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7474" cy="1370965"/>
            </a:xfrm>
            <a:custGeom>
              <a:avLst/>
              <a:gdLst/>
              <a:ahLst/>
              <a:cxnLst/>
              <a:rect r="r" b="b" t="t" l="l"/>
              <a:pathLst>
                <a:path h="1370965" w="1887474">
                  <a:moveTo>
                    <a:pt x="0" y="0"/>
                  </a:moveTo>
                  <a:lnTo>
                    <a:pt x="1887474" y="0"/>
                  </a:lnTo>
                  <a:lnTo>
                    <a:pt x="1887474" y="1370965"/>
                  </a:lnTo>
                  <a:lnTo>
                    <a:pt x="0" y="1370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459" t="0" r="-11457" b="-3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11385" y="6090746"/>
            <a:ext cx="11424782" cy="11424782"/>
          </a:xfrm>
          <a:custGeom>
            <a:avLst/>
            <a:gdLst/>
            <a:ahLst/>
            <a:cxnLst/>
            <a:rect r="r" b="b" t="t" l="l"/>
            <a:pathLst>
              <a:path h="11424782" w="11424782">
                <a:moveTo>
                  <a:pt x="0" y="0"/>
                </a:moveTo>
                <a:lnTo>
                  <a:pt x="11424783" y="0"/>
                </a:lnTo>
                <a:lnTo>
                  <a:pt x="11424783" y="11424783"/>
                </a:lnTo>
                <a:lnTo>
                  <a:pt x="0" y="11424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9583" y="214522"/>
            <a:ext cx="989717" cy="989717"/>
          </a:xfrm>
          <a:custGeom>
            <a:avLst/>
            <a:gdLst/>
            <a:ahLst/>
            <a:cxnLst/>
            <a:rect r="r" b="b" t="t" l="l"/>
            <a:pathLst>
              <a:path h="989717" w="989717">
                <a:moveTo>
                  <a:pt x="0" y="0"/>
                </a:moveTo>
                <a:lnTo>
                  <a:pt x="989717" y="0"/>
                </a:lnTo>
                <a:lnTo>
                  <a:pt x="989717" y="989717"/>
                </a:lnTo>
                <a:lnTo>
                  <a:pt x="0" y="989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7404" y="968290"/>
            <a:ext cx="471896" cy="471896"/>
          </a:xfrm>
          <a:custGeom>
            <a:avLst/>
            <a:gdLst/>
            <a:ahLst/>
            <a:cxnLst/>
            <a:rect r="r" b="b" t="t" l="l"/>
            <a:pathLst>
              <a:path h="471896" w="471896">
                <a:moveTo>
                  <a:pt x="0" y="0"/>
                </a:moveTo>
                <a:lnTo>
                  <a:pt x="471896" y="0"/>
                </a:lnTo>
                <a:lnTo>
                  <a:pt x="471896" y="471896"/>
                </a:lnTo>
                <a:lnTo>
                  <a:pt x="0" y="471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84222" y="1961045"/>
            <a:ext cx="9803778" cy="5661679"/>
            <a:chOff x="0" y="0"/>
            <a:chExt cx="13071704" cy="75489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71729" cy="7548880"/>
            </a:xfrm>
            <a:custGeom>
              <a:avLst/>
              <a:gdLst/>
              <a:ahLst/>
              <a:cxnLst/>
              <a:rect r="r" b="b" t="t" l="l"/>
              <a:pathLst>
                <a:path h="7548880" w="13071729">
                  <a:moveTo>
                    <a:pt x="0" y="0"/>
                  </a:moveTo>
                  <a:lnTo>
                    <a:pt x="13071729" y="0"/>
                  </a:lnTo>
                  <a:lnTo>
                    <a:pt x="13071729" y="7548880"/>
                  </a:lnTo>
                  <a:lnTo>
                    <a:pt x="0" y="7548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2" t="0" r="-2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17493" y="568490"/>
            <a:ext cx="9643167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of Temperature on Bike Usage</a:t>
            </a:r>
          </a:p>
          <a:p>
            <a:pPr algn="l">
              <a:lnSpc>
                <a:spcPts val="66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19707" y="2181254"/>
            <a:ext cx="7966729" cy="616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378" indent="-190459" lvl="2">
              <a:lnSpc>
                <a:spcPts val="3799"/>
              </a:lnSpc>
              <a:buFont typeface="Arial"/>
              <a:buChar char="⚬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Trends: </a:t>
            </a:r>
          </a:p>
          <a:p>
            <a:pPr algn="l" marL="1021170" indent="-255293" lvl="3">
              <a:lnSpc>
                <a:spcPts val="3799"/>
              </a:lnSpc>
              <a:buFont typeface="Arial"/>
              <a:buChar char="￭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Bike usage peaks at </a:t>
            </a:r>
            <a:r>
              <a:rPr lang="en-US" b="true" sz="24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16°C (3,703 trips)</a:t>
            </a: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l" marL="1021170" indent="-255293" lvl="3">
              <a:lnSpc>
                <a:spcPts val="3799"/>
              </a:lnSpc>
              <a:buFont typeface="Arial"/>
              <a:buChar char="￭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Sharp decline below </a:t>
            </a:r>
            <a:r>
              <a:rPr lang="en-US" b="true" sz="2499">
                <a:solidFill>
                  <a:srgbClr val="EA1E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10°C </a:t>
            </a: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 above </a:t>
            </a:r>
            <a:r>
              <a:rPr lang="en-US" b="true" sz="2499">
                <a:solidFill>
                  <a:srgbClr val="E322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18°C.</a:t>
            </a:r>
          </a:p>
          <a:p>
            <a:pPr algn="l" marL="571378" indent="-190459" lvl="2">
              <a:lnSpc>
                <a:spcPts val="3799"/>
              </a:lnSpc>
              <a:buFont typeface="Arial"/>
              <a:buChar char="⚬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Takeaways: </a:t>
            </a:r>
          </a:p>
          <a:p>
            <a:pPr algn="l" marL="1021170" indent="-255293" lvl="3">
              <a:lnSpc>
                <a:spcPts val="3799"/>
              </a:lnSpc>
              <a:buFont typeface="Arial"/>
              <a:buChar char="￭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Moderate weather</a:t>
            </a:r>
            <a:r>
              <a:rPr lang="en-US" b="true" sz="2499">
                <a:solidFill>
                  <a:srgbClr val="04A0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(12-16°C) </a:t>
            </a: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sees the highest bike usage.</a:t>
            </a:r>
          </a:p>
          <a:p>
            <a:pPr algn="l" marL="1021170" indent="-255293" lvl="3">
              <a:lnSpc>
                <a:spcPts val="3799"/>
              </a:lnSpc>
              <a:buFont typeface="Arial"/>
              <a:buChar char="￭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Extremes (too cold or too hot) reduce ridership.</a:t>
            </a:r>
          </a:p>
          <a:p>
            <a:pPr algn="l" marL="571378" indent="-190459" lvl="2">
              <a:lnSpc>
                <a:spcPts val="3799"/>
              </a:lnSpc>
              <a:buFont typeface="Arial"/>
              <a:buChar char="⚬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Implications: </a:t>
            </a:r>
          </a:p>
          <a:p>
            <a:pPr algn="l" marL="1021170" indent="-255293" lvl="3">
              <a:lnSpc>
                <a:spcPts val="3799"/>
              </a:lnSpc>
              <a:buFont typeface="Arial"/>
              <a:buChar char="￭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Promote biking on moderate temperature days.</a:t>
            </a:r>
          </a:p>
          <a:p>
            <a:pPr algn="l" marL="1021170" indent="-255293" lvl="3">
              <a:lnSpc>
                <a:spcPts val="3799"/>
              </a:lnSpc>
              <a:buFont typeface="Arial"/>
              <a:buChar char="￭"/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Introduce cold-weather biking campaigns to encourage winter usage.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1794" y="476843"/>
            <a:ext cx="2595943" cy="1701673"/>
          </a:xfrm>
          <a:custGeom>
            <a:avLst/>
            <a:gdLst/>
            <a:ahLst/>
            <a:cxnLst/>
            <a:rect r="r" b="b" t="t" l="l"/>
            <a:pathLst>
              <a:path h="1701673" w="2595943">
                <a:moveTo>
                  <a:pt x="0" y="0"/>
                </a:moveTo>
                <a:lnTo>
                  <a:pt x="2595943" y="0"/>
                </a:lnTo>
                <a:lnTo>
                  <a:pt x="2595943" y="1701673"/>
                </a:lnTo>
                <a:lnTo>
                  <a:pt x="0" y="1701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10632" y="2371439"/>
            <a:ext cx="9366352" cy="6011237"/>
            <a:chOff x="0" y="0"/>
            <a:chExt cx="12488469" cy="80149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88418" cy="8014970"/>
            </a:xfrm>
            <a:custGeom>
              <a:avLst/>
              <a:gdLst/>
              <a:ahLst/>
              <a:cxnLst/>
              <a:rect r="r" b="b" t="t" l="l"/>
              <a:pathLst>
                <a:path h="8014970" w="12488418">
                  <a:moveTo>
                    <a:pt x="0" y="0"/>
                  </a:moveTo>
                  <a:lnTo>
                    <a:pt x="12488418" y="0"/>
                  </a:lnTo>
                  <a:lnTo>
                    <a:pt x="12488418" y="8014970"/>
                  </a:lnTo>
                  <a:lnTo>
                    <a:pt x="0" y="8014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87" t="0" r="-248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5101" y="428339"/>
            <a:ext cx="7702991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of Seasons on Bike Usage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0154" y="2899924"/>
            <a:ext cx="8470478" cy="592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699" indent="-210566" lvl="2">
              <a:lnSpc>
                <a:spcPts val="3648"/>
              </a:lnSpc>
              <a:buFont typeface="Arial"/>
              <a:buChar char="⚬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Spring vs. Winter Analysis: </a:t>
            </a:r>
          </a:p>
          <a:p>
            <a:pPr algn="l" marL="1128939" indent="-282235" lvl="3">
              <a:lnSpc>
                <a:spcPts val="3648"/>
              </a:lnSpc>
              <a:buFont typeface="Arial"/>
              <a:buChar char="￭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Winter: </a:t>
            </a:r>
            <a:r>
              <a:rPr lang="en-US" b="true" sz="2762" spc="-131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10,741</a:t>
            </a: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trips (Higher than expected!)</a:t>
            </a:r>
          </a:p>
          <a:p>
            <a:pPr algn="l" marL="1128939" indent="-282235" lvl="3">
              <a:lnSpc>
                <a:spcPts val="3648"/>
              </a:lnSpc>
              <a:buFont typeface="Arial"/>
              <a:buChar char="￭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Spring: </a:t>
            </a:r>
            <a:r>
              <a:rPr lang="en-US" b="true" sz="2762" spc="-131">
                <a:solidFill>
                  <a:srgbClr val="EA1E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9,658 </a:t>
            </a: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trips</a:t>
            </a:r>
          </a:p>
          <a:p>
            <a:pPr algn="l" marL="1128939" indent="-282235" lvl="3">
              <a:lnSpc>
                <a:spcPts val="3648"/>
              </a:lnSpc>
            </a:pPr>
          </a:p>
          <a:p>
            <a:pPr algn="l" marL="631699" indent="-210566" lvl="2">
              <a:lnSpc>
                <a:spcPts val="3648"/>
              </a:lnSpc>
              <a:buFont typeface="Arial"/>
              <a:buChar char="⚬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is Winter higher than Spring? </a:t>
            </a:r>
          </a:p>
          <a:p>
            <a:pPr algn="l" marL="1128939" indent="-282235" lvl="3">
              <a:lnSpc>
                <a:spcPts val="3648"/>
              </a:lnSpc>
              <a:buFont typeface="Arial"/>
              <a:buChar char="￭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More commuters using bikes in Winter.</a:t>
            </a:r>
          </a:p>
          <a:p>
            <a:pPr algn="l" marL="1128939" indent="-282235" lvl="3">
              <a:lnSpc>
                <a:spcPts val="3648"/>
              </a:lnSpc>
              <a:buFont typeface="Arial"/>
              <a:buChar char="￭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Spring has more transportation alternatives (walking, jogging).</a:t>
            </a:r>
          </a:p>
          <a:p>
            <a:pPr algn="l" marL="1128939" indent="-282235" lvl="3">
              <a:lnSpc>
                <a:spcPts val="3648"/>
              </a:lnSpc>
            </a:pPr>
          </a:p>
          <a:p>
            <a:pPr algn="l" marL="631699" indent="-210566" lvl="2">
              <a:lnSpc>
                <a:spcPts val="3648"/>
              </a:lnSpc>
              <a:buFont typeface="Arial"/>
              <a:buChar char="⚬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Action Points: </a:t>
            </a:r>
          </a:p>
          <a:p>
            <a:pPr algn="l" marL="1128939" indent="-282235" lvl="3">
              <a:lnSpc>
                <a:spcPts val="3648"/>
              </a:lnSpc>
              <a:buFont typeface="Arial"/>
              <a:buChar char="￭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Offer Spring discounts to boost ridership.</a:t>
            </a:r>
          </a:p>
          <a:p>
            <a:pPr algn="l" marL="1128939" indent="-282235" lvl="3">
              <a:lnSpc>
                <a:spcPts val="3648"/>
              </a:lnSpc>
              <a:buFont typeface="Arial"/>
              <a:buChar char="￭"/>
            </a:pPr>
            <a:r>
              <a:rPr lang="en-US" b="true" sz="2762" spc="-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Introduce Winter biking safety campaigns.</a:t>
            </a:r>
          </a:p>
          <a:p>
            <a:pPr algn="l" marL="1128939" indent="-282235" lvl="3">
              <a:lnSpc>
                <a:spcPts val="364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1794" y="476843"/>
            <a:ext cx="2595943" cy="1701673"/>
          </a:xfrm>
          <a:custGeom>
            <a:avLst/>
            <a:gdLst/>
            <a:ahLst/>
            <a:cxnLst/>
            <a:rect r="r" b="b" t="t" l="l"/>
            <a:pathLst>
              <a:path h="1701673" w="2595943">
                <a:moveTo>
                  <a:pt x="0" y="0"/>
                </a:moveTo>
                <a:lnTo>
                  <a:pt x="2595943" y="0"/>
                </a:lnTo>
                <a:lnTo>
                  <a:pt x="2595943" y="1701673"/>
                </a:lnTo>
                <a:lnTo>
                  <a:pt x="0" y="1701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15440" y="2453373"/>
            <a:ext cx="10272560" cy="5380253"/>
            <a:chOff x="0" y="0"/>
            <a:chExt cx="13696747" cy="71736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96696" cy="7173722"/>
            </a:xfrm>
            <a:custGeom>
              <a:avLst/>
              <a:gdLst/>
              <a:ahLst/>
              <a:cxnLst/>
              <a:rect r="r" b="b" t="t" l="l"/>
              <a:pathLst>
                <a:path h="7173722" w="13696696">
                  <a:moveTo>
                    <a:pt x="0" y="0"/>
                  </a:moveTo>
                  <a:lnTo>
                    <a:pt x="13696696" y="0"/>
                  </a:lnTo>
                  <a:lnTo>
                    <a:pt x="13696696" y="7173722"/>
                  </a:lnTo>
                  <a:lnTo>
                    <a:pt x="0" y="7173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" r="0" b="-33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02783" y="808130"/>
            <a:ext cx="13042735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Hourly Trend of Citi Bike Usage: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495702"/>
            <a:ext cx="7475344" cy="676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897" indent="-258632" lvl="2">
              <a:lnSpc>
                <a:spcPts val="4480"/>
              </a:lnSpc>
              <a:buFont typeface="Arial"/>
              <a:buChar char="⚬"/>
            </a:pPr>
            <a:r>
              <a:rPr lang="en-US" b="true" sz="3394" spc="-16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Peak Hours:</a:t>
            </a:r>
          </a:p>
          <a:p>
            <a:pPr algn="l" marL="1386582" indent="-346646" lvl="3">
              <a:lnSpc>
                <a:spcPts val="4480"/>
              </a:lnSpc>
              <a:buFont typeface="Arial"/>
              <a:buChar char="￭"/>
            </a:pPr>
            <a:r>
              <a:rPr lang="en-US" b="true" sz="3394" spc="-16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Morning: 7:30 AM – 9:30 AM (Commute to work).</a:t>
            </a:r>
          </a:p>
          <a:p>
            <a:pPr algn="l" marL="1386582" indent="-346646" lvl="3">
              <a:lnSpc>
                <a:spcPts val="4480"/>
              </a:lnSpc>
              <a:buFont typeface="Arial"/>
              <a:buChar char="￭"/>
            </a:pPr>
            <a:r>
              <a:rPr lang="en-US" b="true" sz="3394" spc="-16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Evening: 5:00 PM – 7:30 PM (Return commute).</a:t>
            </a:r>
          </a:p>
          <a:p>
            <a:pPr algn="l" marL="1386582" indent="-346646" lvl="3">
              <a:lnSpc>
                <a:spcPts val="4480"/>
              </a:lnSpc>
            </a:pPr>
          </a:p>
          <a:p>
            <a:pPr algn="l" marL="775897" indent="-258632" lvl="2">
              <a:lnSpc>
                <a:spcPts val="4480"/>
              </a:lnSpc>
              <a:buFont typeface="Arial"/>
              <a:buChar char="⚬"/>
            </a:pPr>
            <a:r>
              <a:rPr lang="en-US" b="true" sz="3394" spc="-16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Key Actions:</a:t>
            </a:r>
          </a:p>
          <a:p>
            <a:pPr algn="l" marL="1386582" indent="-346646" lvl="3">
              <a:lnSpc>
                <a:spcPts val="4480"/>
              </a:lnSpc>
              <a:buFont typeface="Arial"/>
              <a:buChar char="￭"/>
            </a:pPr>
            <a:r>
              <a:rPr lang="en-US" b="true" sz="3394" spc="-16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Increase bike availability during rush hours.</a:t>
            </a:r>
          </a:p>
          <a:p>
            <a:pPr algn="l" marL="1386582" indent="-346646" lvl="3">
              <a:lnSpc>
                <a:spcPts val="4480"/>
              </a:lnSpc>
              <a:buFont typeface="Arial"/>
              <a:buChar char="￭"/>
            </a:pPr>
            <a:r>
              <a:rPr lang="en-US" b="true" sz="3394" spc="-16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Dynamic pricing models for peak demand.</a:t>
            </a:r>
          </a:p>
          <a:p>
            <a:pPr algn="l" marL="1386582" indent="-346646" lvl="3">
              <a:lnSpc>
                <a:spcPts val="448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19680" y="9887833"/>
            <a:ext cx="19461094" cy="1701673"/>
          </a:xfrm>
          <a:custGeom>
            <a:avLst/>
            <a:gdLst/>
            <a:ahLst/>
            <a:cxnLst/>
            <a:rect r="r" b="b" t="t" l="l"/>
            <a:pathLst>
              <a:path h="1701673" w="19461094">
                <a:moveTo>
                  <a:pt x="0" y="0"/>
                </a:moveTo>
                <a:lnTo>
                  <a:pt x="19461094" y="0"/>
                </a:lnTo>
                <a:lnTo>
                  <a:pt x="19461094" y="1701673"/>
                </a:lnTo>
                <a:lnTo>
                  <a:pt x="0" y="1701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92831" y="-27692"/>
            <a:ext cx="9144335" cy="12433231"/>
          </a:xfrm>
          <a:custGeom>
            <a:avLst/>
            <a:gdLst/>
            <a:ahLst/>
            <a:cxnLst/>
            <a:rect r="r" b="b" t="t" l="l"/>
            <a:pathLst>
              <a:path h="12433231" w="9144335">
                <a:moveTo>
                  <a:pt x="0" y="0"/>
                </a:moveTo>
                <a:lnTo>
                  <a:pt x="9144335" y="0"/>
                </a:lnTo>
                <a:lnTo>
                  <a:pt x="9144335" y="12433231"/>
                </a:lnTo>
                <a:lnTo>
                  <a:pt x="0" y="12433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16657" y="710260"/>
            <a:ext cx="7735414" cy="8942680"/>
            <a:chOff x="0" y="0"/>
            <a:chExt cx="10313886" cy="119235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13924" cy="11923522"/>
            </a:xfrm>
            <a:custGeom>
              <a:avLst/>
              <a:gdLst/>
              <a:ahLst/>
              <a:cxnLst/>
              <a:rect r="r" b="b" t="t" l="l"/>
              <a:pathLst>
                <a:path h="11923522" w="10313924">
                  <a:moveTo>
                    <a:pt x="0" y="0"/>
                  </a:moveTo>
                  <a:lnTo>
                    <a:pt x="10313924" y="0"/>
                  </a:lnTo>
                  <a:lnTo>
                    <a:pt x="10313924" y="11923522"/>
                  </a:lnTo>
                  <a:lnTo>
                    <a:pt x="0" y="11923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" t="0" r="-2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75777" y="615210"/>
            <a:ext cx="6164532" cy="127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sz="4703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Most &amp; Least Used Start Stations: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203866"/>
            <a:ext cx="10171424" cy="682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3979" indent="-211326" lvl="2">
              <a:lnSpc>
                <a:spcPts val="3882"/>
              </a:lnSpc>
              <a:buFont typeface="Arial"/>
              <a:buChar char="⚬"/>
            </a:pPr>
            <a:r>
              <a:rPr lang="en-US" b="true" sz="277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Less Popular Start Stations (Red Graph)</a:t>
            </a:r>
          </a:p>
          <a:p>
            <a:pPr algn="just" marL="1133008" indent="-283252" lvl="3">
              <a:lnSpc>
                <a:spcPts val="3882"/>
              </a:lnSpc>
              <a:buFont typeface="Arial"/>
              <a:buChar char="￭"/>
            </a:pPr>
            <a:r>
              <a:rPr lang="en-US" b="true" sz="277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Union St – 25 trips</a:t>
            </a:r>
          </a:p>
          <a:p>
            <a:pPr algn="just" marL="1133008" indent="-283252" lvl="3">
              <a:lnSpc>
                <a:spcPts val="3882"/>
              </a:lnSpc>
              <a:buFont typeface="Arial"/>
              <a:buChar char="￭"/>
            </a:pPr>
            <a:r>
              <a:rPr lang="en-US" b="true" sz="277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Danforth Light Rail – 21 trips</a:t>
            </a:r>
          </a:p>
          <a:p>
            <a:pPr algn="just" marL="1133008" indent="-283252" lvl="3">
              <a:lnSpc>
                <a:spcPts val="3882"/>
              </a:lnSpc>
            </a:pPr>
          </a:p>
          <a:p>
            <a:pPr algn="just" marL="633979" indent="-211326" lvl="2">
              <a:lnSpc>
                <a:spcPts val="3882"/>
              </a:lnSpc>
              <a:buFont typeface="Arial"/>
              <a:buChar char="⚬"/>
            </a:pPr>
            <a:r>
              <a:rPr lang="en-US" b="true" sz="277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Possible reasons: Low residential density, fewer commuters, lack of connectivity.</a:t>
            </a:r>
          </a:p>
          <a:p>
            <a:pPr algn="just" marL="633979" indent="-211326" lvl="2">
              <a:lnSpc>
                <a:spcPts val="3882"/>
              </a:lnSpc>
            </a:pPr>
          </a:p>
          <a:p>
            <a:pPr algn="just" marL="633979" indent="-211326" lvl="2">
              <a:lnSpc>
                <a:spcPts val="3882"/>
              </a:lnSpc>
              <a:buFont typeface="Arial"/>
              <a:buChar char="⚬"/>
            </a:pPr>
            <a:r>
              <a:rPr lang="en-US" b="true" sz="277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Most Popular Start Stations (Green Graph)</a:t>
            </a:r>
          </a:p>
          <a:p>
            <a:pPr algn="just" marL="1133008" indent="-283252" lvl="3">
              <a:lnSpc>
                <a:spcPts val="3882"/>
              </a:lnSpc>
              <a:buFont typeface="Arial"/>
              <a:buChar char="￭"/>
            </a:pPr>
            <a:r>
              <a:rPr lang="en-US" b="true" sz="277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Grove St PATH – 2544 trips</a:t>
            </a:r>
          </a:p>
          <a:p>
            <a:pPr algn="just" marL="1133008" indent="-283252" lvl="3">
              <a:lnSpc>
                <a:spcPts val="3882"/>
              </a:lnSpc>
              <a:buFont typeface="Arial"/>
              <a:buChar char="￭"/>
            </a:pPr>
            <a:r>
              <a:rPr lang="en-US" b="true" sz="277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Exchange Place – 1484 trips</a:t>
            </a:r>
          </a:p>
          <a:p>
            <a:pPr algn="just" marL="1133008" indent="-283252" lvl="3">
              <a:lnSpc>
                <a:spcPts val="3882"/>
              </a:lnSpc>
            </a:pPr>
          </a:p>
          <a:p>
            <a:pPr algn="just" marL="633979" indent="-211326" lvl="2">
              <a:lnSpc>
                <a:spcPts val="3882"/>
              </a:lnSpc>
              <a:buFont typeface="Arial"/>
              <a:buChar char="⚬"/>
            </a:pPr>
            <a:r>
              <a:rPr lang="en-US" b="true" sz="277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Possible reasons: Proximity to transit hubs, high foot traffic, commuter demand</a:t>
            </a:r>
          </a:p>
          <a:p>
            <a:pPr algn="just" marL="633979" indent="-211326" lvl="2">
              <a:lnSpc>
                <a:spcPts val="388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07082" y="5733174"/>
            <a:ext cx="11424782" cy="11424782"/>
          </a:xfrm>
          <a:custGeom>
            <a:avLst/>
            <a:gdLst/>
            <a:ahLst/>
            <a:cxnLst/>
            <a:rect r="r" b="b" t="t" l="l"/>
            <a:pathLst>
              <a:path h="11424782" w="11424782">
                <a:moveTo>
                  <a:pt x="0" y="0"/>
                </a:moveTo>
                <a:lnTo>
                  <a:pt x="11424783" y="0"/>
                </a:lnTo>
                <a:lnTo>
                  <a:pt x="11424783" y="11424783"/>
                </a:lnTo>
                <a:lnTo>
                  <a:pt x="0" y="11424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85505" y="1871501"/>
            <a:ext cx="7789354" cy="6798173"/>
            <a:chOff x="0" y="0"/>
            <a:chExt cx="10385806" cy="90642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5806" cy="9064244"/>
            </a:xfrm>
            <a:custGeom>
              <a:avLst/>
              <a:gdLst/>
              <a:ahLst/>
              <a:cxnLst/>
              <a:rect r="r" b="b" t="t" l="l"/>
              <a:pathLst>
                <a:path h="9064244" w="10385806">
                  <a:moveTo>
                    <a:pt x="0" y="0"/>
                  </a:moveTo>
                  <a:lnTo>
                    <a:pt x="10385806" y="0"/>
                  </a:lnTo>
                  <a:lnTo>
                    <a:pt x="10385806" y="9064244"/>
                  </a:lnTo>
                  <a:lnTo>
                    <a:pt x="0" y="906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295" t="0" r="-9295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85673" y="920925"/>
            <a:ext cx="1329120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Breakdown of Users: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5307" y="2390975"/>
            <a:ext cx="9429550" cy="611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4"/>
              </a:lnSpc>
            </a:pPr>
            <a:r>
              <a:rPr lang="en-US" sz="31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 Group Distribution:</a:t>
            </a:r>
          </a:p>
          <a:p>
            <a:pPr algn="l" marL="715834" indent="-238611" lvl="2">
              <a:lnSpc>
                <a:spcPts val="4384"/>
              </a:lnSpc>
              <a:buFont typeface="Arial"/>
              <a:buChar char="⚬"/>
            </a:pPr>
            <a:r>
              <a:rPr lang="en-US" sz="31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Majority of riders: 25-34 years old.</a:t>
            </a:r>
          </a:p>
          <a:p>
            <a:pPr algn="l" marL="715834" indent="-238611" lvl="2">
              <a:lnSpc>
                <a:spcPts val="4384"/>
              </a:lnSpc>
            </a:pPr>
          </a:p>
          <a:p>
            <a:pPr algn="l" marL="715834" indent="-238611" lvl="2">
              <a:lnSpc>
                <a:spcPts val="4384"/>
              </a:lnSpc>
              <a:buFont typeface="Arial"/>
              <a:buChar char="⚬"/>
            </a:pPr>
            <a:r>
              <a:rPr lang="en-US" sz="31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Fewer riders: Under 18 &amp; 55+.</a:t>
            </a:r>
          </a:p>
          <a:p>
            <a:pPr algn="l" marL="715834" indent="-238611" lvl="2">
              <a:lnSpc>
                <a:spcPts val="4384"/>
              </a:lnSpc>
            </a:pPr>
          </a:p>
          <a:p>
            <a:pPr algn="l" marL="715834" indent="-238611" lvl="2">
              <a:lnSpc>
                <a:spcPts val="4384"/>
              </a:lnSpc>
            </a:pPr>
            <a:r>
              <a:rPr lang="en-US" b="true" sz="31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Targeted Strategies:</a:t>
            </a:r>
          </a:p>
          <a:p>
            <a:pPr algn="l" marL="715834" indent="-238611" lvl="2">
              <a:lnSpc>
                <a:spcPts val="4384"/>
              </a:lnSpc>
              <a:buFont typeface="Arial"/>
              <a:buChar char="⚬"/>
            </a:pPr>
            <a:r>
              <a:rPr lang="en-US" sz="31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Youth promotions (college student discounts).</a:t>
            </a:r>
          </a:p>
          <a:p>
            <a:pPr algn="l" marL="715834" indent="-238611" lvl="2">
              <a:lnSpc>
                <a:spcPts val="4384"/>
              </a:lnSpc>
            </a:pPr>
          </a:p>
          <a:p>
            <a:pPr algn="l" marL="715834" indent="-238611" lvl="2">
              <a:lnSpc>
                <a:spcPts val="4384"/>
              </a:lnSpc>
              <a:buFont typeface="Arial"/>
              <a:buChar char="⚬"/>
            </a:pPr>
            <a:r>
              <a:rPr lang="en-US" sz="31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Senior-friendly biking initiatives (easier bike access, comfort upgrades).</a:t>
            </a:r>
          </a:p>
          <a:p>
            <a:pPr algn="l" marL="715834" indent="-238611" lvl="2">
              <a:lnSpc>
                <a:spcPts val="438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2235" y="7757932"/>
            <a:ext cx="1742218" cy="1742218"/>
          </a:xfrm>
          <a:custGeom>
            <a:avLst/>
            <a:gdLst/>
            <a:ahLst/>
            <a:cxnLst/>
            <a:rect r="r" b="b" t="t" l="l"/>
            <a:pathLst>
              <a:path h="1742218" w="1742218">
                <a:moveTo>
                  <a:pt x="0" y="0"/>
                </a:moveTo>
                <a:lnTo>
                  <a:pt x="1742217" y="0"/>
                </a:lnTo>
                <a:lnTo>
                  <a:pt x="1742217" y="1742217"/>
                </a:lnTo>
                <a:lnTo>
                  <a:pt x="0" y="1742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4550" y="4414542"/>
            <a:ext cx="1282913" cy="1742218"/>
          </a:xfrm>
          <a:custGeom>
            <a:avLst/>
            <a:gdLst/>
            <a:ahLst/>
            <a:cxnLst/>
            <a:rect r="r" b="b" t="t" l="l"/>
            <a:pathLst>
              <a:path h="1742218" w="1282913">
                <a:moveTo>
                  <a:pt x="0" y="0"/>
                </a:moveTo>
                <a:lnTo>
                  <a:pt x="1282913" y="0"/>
                </a:lnTo>
                <a:lnTo>
                  <a:pt x="1282913" y="1742218"/>
                </a:lnTo>
                <a:lnTo>
                  <a:pt x="0" y="1742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1" t="0" r="-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37560" y="828332"/>
            <a:ext cx="2036893" cy="1985039"/>
          </a:xfrm>
          <a:custGeom>
            <a:avLst/>
            <a:gdLst/>
            <a:ahLst/>
            <a:cxnLst/>
            <a:rect r="r" b="b" t="t" l="l"/>
            <a:pathLst>
              <a:path h="1985039" w="2036893">
                <a:moveTo>
                  <a:pt x="0" y="0"/>
                </a:moveTo>
                <a:lnTo>
                  <a:pt x="2036892" y="0"/>
                </a:lnTo>
                <a:lnTo>
                  <a:pt x="2036892" y="1985039"/>
                </a:lnTo>
                <a:lnTo>
                  <a:pt x="0" y="1985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26" r="0" b="-82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2580" y="923582"/>
            <a:ext cx="1329120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Citi Bike Station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2580" y="2579665"/>
            <a:ext cx="12271534" cy="567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4448" indent="-278150" lvl="2">
              <a:lnSpc>
                <a:spcPts val="7264"/>
              </a:lnSpc>
              <a:buFont typeface="Arial"/>
              <a:buChar char="⚬"/>
            </a:pPr>
            <a:r>
              <a:rPr lang="en-US" b="true" sz="3650">
                <a:solidFill>
                  <a:srgbClr val="1428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Boost One-time User Engagement:</a:t>
            </a:r>
          </a:p>
          <a:p>
            <a:pPr algn="l" marL="1491240" indent="-372810" lvl="3">
              <a:lnSpc>
                <a:spcPts val="7264"/>
              </a:lnSpc>
              <a:buFont typeface="Arial"/>
              <a:buChar char="￭"/>
            </a:pPr>
            <a:r>
              <a:rPr lang="en-US" b="true" sz="3650">
                <a:solidFill>
                  <a:srgbClr val="1428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Weekend packages, better advertising.</a:t>
            </a:r>
          </a:p>
          <a:p>
            <a:pPr algn="l" marL="834448" indent="-278150" lvl="2">
              <a:lnSpc>
                <a:spcPts val="7264"/>
              </a:lnSpc>
              <a:buFont typeface="Arial"/>
              <a:buChar char="⚬"/>
            </a:pPr>
            <a:r>
              <a:rPr lang="en-US" b="true" sz="3650">
                <a:solidFill>
                  <a:srgbClr val="1428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Weather-based Strategies:</a:t>
            </a:r>
          </a:p>
          <a:p>
            <a:pPr algn="l" marL="1491240" indent="-372810" lvl="3">
              <a:lnSpc>
                <a:spcPts val="7264"/>
              </a:lnSpc>
              <a:buFont typeface="Arial"/>
              <a:buChar char="￭"/>
            </a:pPr>
            <a:r>
              <a:rPr lang="en-US" b="true" sz="3650">
                <a:solidFill>
                  <a:srgbClr val="1428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Seasonal discounts, bike-friendly winter gear.</a:t>
            </a:r>
          </a:p>
          <a:p>
            <a:pPr algn="l" marL="834448" indent="-278150" lvl="2">
              <a:lnSpc>
                <a:spcPts val="7264"/>
              </a:lnSpc>
              <a:buFont typeface="Arial"/>
              <a:buChar char="⚬"/>
            </a:pPr>
            <a:r>
              <a:rPr lang="en-US" b="true" sz="3650">
                <a:solidFill>
                  <a:srgbClr val="1428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Enhance Commuter Experience: </a:t>
            </a:r>
          </a:p>
          <a:p>
            <a:pPr algn="l" marL="1491240" indent="-372810" lvl="3">
              <a:lnSpc>
                <a:spcPts val="7264"/>
              </a:lnSpc>
              <a:buFont typeface="Arial"/>
              <a:buChar char="￭"/>
            </a:pPr>
            <a:r>
              <a:rPr lang="en-US" b="true" sz="3650">
                <a:solidFill>
                  <a:srgbClr val="1428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Expand stations, loyalty programs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75609" y="-6541320"/>
            <a:ext cx="11424782" cy="11424782"/>
          </a:xfrm>
          <a:custGeom>
            <a:avLst/>
            <a:gdLst/>
            <a:ahLst/>
            <a:cxnLst/>
            <a:rect r="r" b="b" t="t" l="l"/>
            <a:pathLst>
              <a:path h="11424782" w="11424782">
                <a:moveTo>
                  <a:pt x="0" y="0"/>
                </a:moveTo>
                <a:lnTo>
                  <a:pt x="11424783" y="0"/>
                </a:lnTo>
                <a:lnTo>
                  <a:pt x="11424783" y="11424783"/>
                </a:lnTo>
                <a:lnTo>
                  <a:pt x="0" y="11424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60766" y="5793419"/>
            <a:ext cx="2846146" cy="3464881"/>
            <a:chOff x="0" y="0"/>
            <a:chExt cx="3794862" cy="46198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94887" cy="4619879"/>
            </a:xfrm>
            <a:custGeom>
              <a:avLst/>
              <a:gdLst/>
              <a:ahLst/>
              <a:cxnLst/>
              <a:rect r="r" b="b" t="t" l="l"/>
              <a:pathLst>
                <a:path h="4619879" w="3794887">
                  <a:moveTo>
                    <a:pt x="0" y="0"/>
                  </a:moveTo>
                  <a:lnTo>
                    <a:pt x="3794887" y="0"/>
                  </a:lnTo>
                  <a:lnTo>
                    <a:pt x="3794887" y="4619879"/>
                  </a:lnTo>
                  <a:lnTo>
                    <a:pt x="0" y="4619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3137" y="2348084"/>
            <a:ext cx="7830703" cy="288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0"/>
              </a:lnSpc>
            </a:pPr>
            <a:r>
              <a:rPr lang="en-US" sz="15229" b="true">
                <a:solidFill>
                  <a:srgbClr val="F8CE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06526" y="2348084"/>
            <a:ext cx="7597111" cy="288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4"/>
              </a:lnSpc>
            </a:pPr>
            <a:r>
              <a:rPr lang="en-US" sz="15181" b="true">
                <a:solidFill>
                  <a:srgbClr val="19488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  <a:r>
              <a:rPr lang="en-US" sz="15181" b="true">
                <a:solidFill>
                  <a:srgbClr val="E322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889553" y="5816191"/>
            <a:ext cx="11424782" cy="11424782"/>
          </a:xfrm>
          <a:custGeom>
            <a:avLst/>
            <a:gdLst/>
            <a:ahLst/>
            <a:cxnLst/>
            <a:rect r="r" b="b" t="t" l="l"/>
            <a:pathLst>
              <a:path h="11424782" w="11424782">
                <a:moveTo>
                  <a:pt x="0" y="0"/>
                </a:moveTo>
                <a:lnTo>
                  <a:pt x="11424783" y="0"/>
                </a:lnTo>
                <a:lnTo>
                  <a:pt x="11424783" y="11424783"/>
                </a:lnTo>
                <a:lnTo>
                  <a:pt x="0" y="11424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DAG8-GgYyfQ</dc:identifier>
  <dcterms:modified xsi:type="dcterms:W3CDTF">2011-08-01T06:04:30Z</dcterms:modified>
  <cp:revision>1</cp:revision>
  <dc:title>citi bikes</dc:title>
</cp:coreProperties>
</file>